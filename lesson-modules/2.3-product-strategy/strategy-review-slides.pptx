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TaskFlow H1 2026</a:t>
            </a:r>
            <a:br/>
            <a:r>
              <a:t>AI Product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Gen AI PM | Декабрь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Конкуренты уходят в enterprise — SMB недообслужен</a:t>
            </a:r>
          </a:p>
          <a:p>
            <a:pPr>
              <a:spcAft>
                <a:spcPts val="1200"/>
              </a:spcAft>
              <a:defRPr sz="2000"/>
            </a:pPr>
            <a:r>
              <a:t>• Наш подход: партнёрство для AI, focused tools, move fast</a:t>
            </a:r>
          </a:p>
          <a:p>
            <a:pPr>
              <a:spcAft>
                <a:spcPts val="1200"/>
              </a:spcAft>
              <a:defRPr sz="2000"/>
            </a:pPr>
            <a:r>
              <a:t>• AI включён в базовую цену $12/мес — ставка на retention</a:t>
            </a:r>
          </a:p>
          <a:p>
            <a:pPr>
              <a:spcAft>
                <a:spcPts val="1200"/>
              </a:spcAft>
              <a:defRPr sz="2000"/>
            </a:pPr>
            <a:r>
              <a:t>• H1 2026: 3 AI-инструмента (Meeting Notes, Task Breakdown, Standup)</a:t>
            </a:r>
          </a:p>
          <a:p>
            <a:pPr>
              <a:spcAft>
                <a:spcPts val="1200"/>
              </a:spcAft>
              <a:defRPr sz="2000"/>
            </a:pPr>
            <a:r>
              <a:t>• Target: 50% WAU using AI, +10% LTV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ДИАГНОЗ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Конкурентный ландшафт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Конкурент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AI-подход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Ценообразование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Фокус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Assistant +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От $20/мес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Enterprise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для инженеров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Включено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Dev teams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От $25/мес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Enterprise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TaskFlow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Focused AI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$12 всё вкл.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SMB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Позиция TaskFlow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Сильные стороны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Voice chat работает — первопроходцы</a:t>
            </a:r>
          </a:p>
          <a:p>
            <a:pPr>
              <a:spcAft>
                <a:spcPts val="1000"/>
              </a:spcAft>
              <a:defRPr sz="1800"/>
            </a:pPr>
            <a:r>
              <a:t>• Activation 56% для SMB</a:t>
            </a:r>
          </a:p>
          <a:p>
            <a:pPr>
              <a:spcAft>
                <a:spcPts val="1000"/>
              </a:spcAft>
              <a:defRPr sz="1800"/>
            </a:pPr>
            <a:r>
              <a:t>• Понимаем маленькие команды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Ограничения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2 AI-инженера</a:t>
            </a:r>
          </a:p>
          <a:p>
            <a:pPr>
              <a:spcAft>
                <a:spcPts val="1000"/>
              </a:spcAft>
              <a:defRPr sz="1800"/>
            </a:pPr>
            <a:r>
              <a:t>• $50k/квартал бюджет</a:t>
            </a:r>
          </a:p>
          <a:p>
            <a:pPr>
              <a:spcAft>
                <a:spcPts val="1000"/>
              </a:spcAft>
              <a:defRPr sz="1800"/>
            </a:pPr>
            <a:r>
              <a:t>• $3/user AI-косты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Ядро стратегического вызова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Как TaskFlow может победить в AI с ограниченными ресурсами?</a:t>
            </a:r>
          </a:p>
          <a:p>
            <a:pPr>
              <a:spcAft>
                <a:spcPts val="1200"/>
              </a:spcAft>
              <a:defRPr sz="2000"/>
            </a:pPr>
            <a:r>
              <a:t>• Конкуренты имеют больше денег и инженеров</a:t>
            </a:r>
          </a:p>
          <a:p>
            <a:pPr>
              <a:spcAft>
                <a:spcPts val="1200"/>
              </a:spcAft>
              <a:defRPr sz="2000"/>
            </a:pPr>
            <a:r>
              <a:t>• Но все уходят в enterprise...</a:t>
            </a:r>
          </a:p>
          <a:p>
            <a:pPr>
              <a:spcAft>
                <a:spcPts val="1200"/>
              </a:spcAft>
              <a:defRPr sz="2000"/>
            </a:pPr>
            <a:r>
              <a:t>• SMB остаётся недообслуженным</a:t>
            </a:r>
          </a:p>
          <a:p>
            <a:pPr>
              <a:spcAft>
                <a:spcPts val="1200"/>
              </a:spcAft>
              <a:defRPr sz="2000"/>
            </a:pPr>
            <a:r>
              <a:t>• Наша возможность: focused AI для маленьких команд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РУКОВОДЯЩАЯ ПОЛИТИКА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Наш стратегический подход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ПАРТНЁРСТВО: Используем OpenAI/Anthropic, не строим свои модели</a:t>
            </a:r>
          </a:p>
          <a:p>
            <a:pPr>
              <a:spcAft>
                <a:spcPts val="1200"/>
              </a:spcAft>
              <a:defRPr sz="2000"/>
            </a:pPr>
            <a:r>
              <a:t>• ФОКУС: Свой roadmap, не реагируем на конкурентов</a:t>
            </a:r>
          </a:p>
          <a:p>
            <a:pPr>
              <a:spcAft>
                <a:spcPts val="1200"/>
              </a:spcAft>
              <a:defRPr sz="2000"/>
            </a:pPr>
            <a:r>
              <a:t>• PRICING: AI в базовой цене $12 — ставка на retention</a:t>
            </a:r>
          </a:p>
          <a:p>
            <a:pPr>
              <a:spcAft>
                <a:spcPts val="1200"/>
              </a:spcAft>
              <a:defRPr sz="2000"/>
            </a:pPr>
            <a:r>
              <a:t>• SCOPE: Focused tools для конкретных jobs-to-be-done</a:t>
            </a:r>
          </a:p>
          <a:p>
            <a:pPr>
              <a:spcAft>
                <a:spcPts val="1200"/>
              </a:spcAft>
              <a:defRPr sz="2000"/>
            </a:pPr>
            <a:r>
              <a:t>• SPEED: Move fast, learn fast, iterate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Чего мы НЕ делаем (tradeoffs)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Не строим свои AI-модели — не наш бизнес</a:t>
            </a:r>
          </a:p>
          <a:p>
            <a:pPr>
              <a:spcAft>
                <a:spcPts val="1200"/>
              </a:spcAft>
              <a:defRPr sz="2000"/>
            </a:pPr>
            <a:r>
              <a:t>• Не идём в enterprise — там Notion/Asana</a:t>
            </a:r>
          </a:p>
          <a:p>
            <a:pPr>
              <a:spcAft>
                <a:spcPts val="1200"/>
              </a:spcAft>
              <a:defRPr sz="2000"/>
            </a:pPr>
            <a:r>
              <a:t>• Не реагируем на каждый ход конкурентов</a:t>
            </a:r>
          </a:p>
          <a:p>
            <a:pPr>
              <a:spcAft>
                <a:spcPts val="1200"/>
              </a:spcAft>
              <a:defRPr sz="2000"/>
            </a:pPr>
            <a:r>
              <a:t>• Не делаем AI premium tier — SMB хотят простоту</a:t>
            </a:r>
          </a:p>
          <a:p>
            <a:pPr>
              <a:spcAft>
                <a:spcPts val="1200"/>
              </a:spcAft>
              <a:defRPr sz="2000"/>
            </a:pPr>
            <a:r>
              <a:t>• Не полируем месяцами — скорость важнее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СОГЛАСОВАННЫЕ ДЕЙСТВИЯ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Q1 2026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ЯНВАРЬ: OpenAI интеграция + Feature flags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GPT-4o для core AI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Инфраструктура для экспериментов</a:t>
            </a:r>
          </a:p>
          <a:p>
            <a:pPr>
              <a:spcAft>
                <a:spcPts val="1200"/>
              </a:spcAft>
              <a:defRPr sz="2000"/>
            </a:pPr>
            <a:r>
              <a:t>• ФЕВРАЛЬ: AI Meeting Notes MVP → 10% beta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Voice → Summary → Tasks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2-недельные циклы итераций</a:t>
            </a:r>
          </a:p>
          <a:p>
            <a:pPr>
              <a:spcAft>
                <a:spcPts val="1200"/>
              </a:spcAft>
              <a:defRPr sz="2000"/>
            </a:pPr>
            <a:r>
              <a:t>• МАРТ: Meeting Notes → 100% rollout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Измерение retention impact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Начало Task Breakdown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Q2 2026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АПРЕЛЬ: AI Task Breakdown MVP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Большая задача → подзадачи с estimates</a:t>
            </a:r>
          </a:p>
          <a:p>
            <a:pPr>
              <a:spcAft>
                <a:spcPts val="1200"/>
              </a:spcAft>
              <a:defRPr sz="2000"/>
            </a:pPr>
            <a:r>
              <a:t>• МАЙ: Task Breakdown → 50% + Daily Standup начало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Cost optimization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AI Standup Summary MVP</a:t>
            </a:r>
          </a:p>
          <a:p>
            <a:pPr>
              <a:spcAft>
                <a:spcPts val="1200"/>
              </a:spcAft>
              <a:defRPr sz="2000"/>
            </a:pPr>
            <a:r>
              <a:t>• ИЮНЬ: Full rollout + H1 ретроспектива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3 AI tools shipped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    ◦ H2 планирование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Success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Q1 Target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Q2 Target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Feature Usage (WAU)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Retention (Week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Error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LTV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Почему мы победим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ПРОСТОТА: $12/мес всё включено vs Notion $20+</a:t>
            </a:r>
          </a:p>
          <a:p>
            <a:pPr>
              <a:spcAft>
                <a:spcPts val="1200"/>
              </a:spcAft>
              <a:defRPr sz="2000"/>
            </a:pPr>
            <a:r>
              <a:t>• ФОКУС: Конкретные tools vs general AI assistant</a:t>
            </a:r>
          </a:p>
          <a:p>
            <a:pPr>
              <a:spcAft>
                <a:spcPts val="1200"/>
              </a:spcAft>
              <a:defRPr sz="2000"/>
            </a:pPr>
            <a:r>
              <a:t>• СКОРОСТЬ: Маленькая команда = быстрые решения</a:t>
            </a:r>
          </a:p>
          <a:p>
            <a:pPr>
              <a:spcAft>
                <a:spcPts val="1200"/>
              </a:spcAft>
              <a:defRPr sz="2000"/>
            </a:pPr>
            <a:r>
              <a:t>• SMB-ЭКСПЕРТИЗА: Понимаем workflows маленьких команд</a:t>
            </a:r>
          </a:p>
          <a:p>
            <a:pPr>
              <a:spcAft>
                <a:spcPts val="1200"/>
              </a:spcAft>
              <a:defRPr sz="2000"/>
            </a:pPr>
            <a:r>
              <a:t>• ИНТЕГРАЦИЯ: AI внутри workflow, не отдельный чат-бот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5496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ОТ ENGINEERING: 2 инженера focused на AI весь H1</a:t>
            </a:r>
          </a:p>
          <a:p>
            <a:pPr>
              <a:spcAft>
                <a:spcPts val="1200"/>
              </a:spcAft>
              <a:defRPr sz="2000"/>
            </a:pPr>
            <a:r>
              <a:t>• ОТ LEADERSHIP: Approval на margin hit (~25% reduction)</a:t>
            </a:r>
          </a:p>
          <a:p>
            <a:pPr>
              <a:spcAft>
                <a:spcPts val="1200"/>
              </a:spcAft>
              <a:defRPr sz="2000"/>
            </a:pPr>
            <a:r>
              <a:t>• ОТ LEADERSHIP: Patience — ROI через retention, не immediate</a:t>
            </a:r>
          </a:p>
          <a:p>
            <a:pPr>
              <a:spcAft>
                <a:spcPts val="1200"/>
              </a:spcAft>
              <a:defRPr sz="2000"/>
            </a:pPr>
            <a:r>
              <a:t>• ОТ DESIGN: Shared resources на AI tools 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